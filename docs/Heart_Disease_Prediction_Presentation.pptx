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97680"/>
            <a:ext cx="4114800" cy="41148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 PREDICTION SYSTEM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Based Heart Disease Risk Prediction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Internship - Week 4 Capstone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400800" cy="18288"/>
          </a:xfrm>
          <a:prstGeom prst="rect">
            <a:avLst/>
          </a:prstGeom>
          <a:solidFill>
            <a:srgbClr val="E3EA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is a leading global cause of death. Early identification of at-risk patients from routine, non-invasive clinical measurements can support timely medical attention.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patient's clinical attributes (age, blood pressure, cholesterol, chest pain type, and more), can a Machine Learning model reliably predict whether heart disease is present?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40880" y="155448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0" y="1828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697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32461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Sites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46177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5440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Attributes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System - ML Internship Capstone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duplicates and inconsistent types without discarding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691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2860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Data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697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feature distributions and their relationship to heart disease.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91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2860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Leak-Free Pipeline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697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fit only on training data; reused unchanged at prediction time.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5262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Models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937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vs. Decision Tree, evaluated objectively.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3703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931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262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45262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Best Model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937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using ROC-AUC and Recall, not assumptions.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3703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931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5262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Web App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937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Streamlit app for real-time predictions.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System - ML Internship Capstone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Heart Disease Dataset  —  heart_disease_uci.csv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920 patient records across 4 clinical sites: </a:t>
            </a:r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Cleveland, Hungary, Switzerland, VA Long Beach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age, sex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measurements: resting blood pressure, cholesterol, max heart rate, oldpeak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results: chest pain type, resting ECG, exercise-induced angina, slope, major vessels (ca), thalassemia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num (0–4 severity) → converted to binary heart_disease (0 = No Disease, 1 = Disease)</a:t>
            </a:r>
            <a:endParaRPr lang="en-US" sz="1500" dirty="0"/>
          </a:p>
        </p:txBody>
      </p:sp>
      <p:pic>
        <p:nvPicPr>
          <p:cNvPr id="6" name="Image 0" descr="outputs/eda/targ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371600"/>
            <a:ext cx="4663440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949440" y="4937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 after cleaning (508 disease-positive, 410 disease-negative)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System - ML Internship Capstone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Decisions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id (non-predictive identifier)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2 duplicate records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fbs / exang to categorical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thal, slope kept despite missingness — imputed, not dropped, to avoid losing most of the dataset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 Pipeline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→ StandardScaler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Most-frequent imputation → One-Hot Encoding
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ONLY on training data — no leakage into test set or live predictions.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System - ML Internship Capstone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pic>
        <p:nvPicPr>
          <p:cNvPr id="3" name="Image 0" descr="outputs/eda/ag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611880" cy="2743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023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</a:t>
            </a:r>
            <a:endParaRPr lang="en-US" sz="1200" dirty="0"/>
          </a:p>
        </p:txBody>
      </p:sp>
      <p:pic>
        <p:nvPicPr>
          <p:cNvPr id="5" name="Image 1" descr="outputs/eda/chest_pain_vs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234440"/>
            <a:ext cx="3611880" cy="2743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389120" y="4023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Type vs Diagnosis</a:t>
            </a:r>
            <a:endParaRPr lang="en-US" sz="1200" dirty="0"/>
          </a:p>
        </p:txBody>
      </p:sp>
      <p:pic>
        <p:nvPicPr>
          <p:cNvPr id="7" name="Image 2" descr="outputs/eda/correlation_heat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234440"/>
            <a:ext cx="3611880" cy="27432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229600" y="4023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526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Asymptomatic chest pain shows a strong association with disease-positive cases; heart-disease-positive patients skew slightly older.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System - ML Internship Capstone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28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classification model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 = 1000, random_state = 42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interpretable coefficients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performance on well-behaved tabular clinical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828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56032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Non-linear, rule-based model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5, min_samples_leaf = 10, random_state = 42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depth to reduce overfitting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feature interactions Logistic Regression cannot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System - ML Internship Capstone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463040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proportion of correct predictions.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423160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predicted-positive patients, how many truly have disease.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38328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383280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truly-positive patients, how many were correctly caught. Prioritised here — missing a real case is costlier.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34340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4343400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30352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5303520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discriminate between classes across all thresholds.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System - ML Internship Capstone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&amp; ROC Curve</a:t>
            </a:r>
            <a:endParaRPr lang="en-US" sz="3000" dirty="0"/>
          </a:p>
        </p:txBody>
      </p:sp>
      <p:pic>
        <p:nvPicPr>
          <p:cNvPr id="3" name="Image 0" descr="outputs/confusion_matrix/cm_logistic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108960" cy="2487168"/>
          </a:xfrm>
          <a:prstGeom prst="rect">
            <a:avLst/>
          </a:prstGeom>
        </p:spPr>
      </p:pic>
      <p:pic>
        <p:nvPicPr>
          <p:cNvPr id="4" name="Image 1" descr="outputs/confusion_matrix/cm_decision_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94760"/>
            <a:ext cx="3108960" cy="2487168"/>
          </a:xfrm>
          <a:prstGeom prst="rect">
            <a:avLst/>
          </a:prstGeom>
        </p:spPr>
      </p:pic>
      <p:pic>
        <p:nvPicPr>
          <p:cNvPr id="5" name="Image 2" descr="outputs/roc_curve/roc_comparis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097280"/>
            <a:ext cx="7223760" cy="55321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System - ML Internship Capstone</a:t>
            </a:r>
            <a:endParaRPr lang="en-US" sz="900" dirty="0"/>
          </a:p>
        </p:txBody>
      </p:sp>
      <p:sp>
        <p:nvSpPr>
          <p:cNvPr id="7" name="Text 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&amp; Results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1280160"/>
        </p:xfrm>
        <a:graphic>
          <a:graphicData uri="http://schemas.openxmlformats.org/drawingml/2006/table">
            <a:tbl>
              <a:tblPr/>
              <a:tblGrid>
                <a:gridCol w="3017520"/>
                <a:gridCol w="1609344"/>
                <a:gridCol w="1609344"/>
                <a:gridCol w="1609344"/>
                <a:gridCol w="1609344"/>
                <a:gridCol w="1609344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4F"/>
                          </a:solidFill>
                        </a:rPr>
                        <a:t>Logistic Regression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4F"/>
                          </a:solidFill>
                        </a:rPr>
                        <a:t>0.8478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4F"/>
                          </a:solidFill>
                        </a:rPr>
                        <a:t>0.8304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4F"/>
                          </a:solidFill>
                        </a:rPr>
                        <a:t>0.9118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4F"/>
                          </a:solidFill>
                        </a:rPr>
                        <a:t>0.8692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4F"/>
                          </a:solidFill>
                        </a:rPr>
                        <a:t>0.9284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324F"/>
                          </a:solidFill>
                        </a:rPr>
                        <a:t>Decision Tree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324F"/>
                          </a:solidFill>
                        </a:rPr>
                        <a:t>0.8315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324F"/>
                          </a:solidFill>
                        </a:rPr>
                        <a:t>0.8817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324F"/>
                          </a:solidFill>
                        </a:rPr>
                        <a:t>0.8039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324F"/>
                          </a:solidFill>
                        </a:rPr>
                        <a:t>0.8410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324F"/>
                          </a:solidFill>
                        </a:rPr>
                        <a:t>0.9193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017520"/>
            <a:ext cx="11064240" cy="2651760"/>
          </a:xfrm>
          <a:prstGeom prst="roundRect">
            <a:avLst>
              <a:gd name="adj" fmla="val 3448"/>
            </a:avLst>
          </a:prstGeom>
          <a:solidFill>
            <a:srgbClr val="F4F8FB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Final Model: Logistic Regression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4904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ROC-AUC (0.9284) — best overall discriminative ability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Recall (0.9118) — catches more true disease-positive cases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had slightly higher Precision, but missed more true positives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criteria: ROC-AUC first, Recall as tie-breaker (missed cases are costlier than false alarms)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System - ML Internship Capstone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— a clean, healthcare-inspired interface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632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introduction, objective, technologies used and the medical disclaimer.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892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7744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patient form with meaningful labels; returns a clear result and predicted probability.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632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1330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1772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metrics, confusion matrices, ROC curves and the model comparison table.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41330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Insights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61772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visualizations for exploring the training data.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System - ML Internship Capstone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complete, reproducible ML pipeline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multi-site clinical data to a deployed web application. Logistic Regression achieved ~85% accuracy, ~91% recall and ~93% ROC-AUC on unseen test data.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algorithms (Random Forest, Gradient Boosting, SVM)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and cross-validation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interpretability (e.g. SHAP)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more diverse datasets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301752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 after deployment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on a cloud platform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healthcare systems (with appropriate privacy &amp; regulatory safeguards)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64240" cy="18288"/>
          </a:xfrm>
          <a:prstGeom prst="rect">
            <a:avLst/>
          </a:prstGeom>
          <a:solidFill>
            <a:srgbClr val="3A547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9B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clinically validated — for educational and internship demonstration purposes only.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2026-10-02T05:39:02Z</dcterms:created>
  <dcterms:modified xsi:type="dcterms:W3CDTF">2026-10-02T05:39:02Z</dcterms:modified>
</cp:coreProperties>
</file>